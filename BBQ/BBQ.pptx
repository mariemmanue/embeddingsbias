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3"/>
    <p:restoredTop sz="94666"/>
  </p:normalViewPr>
  <p:slideViewPr>
    <p:cSldViewPr snapToGrid="0">
      <p:cViewPr>
        <p:scale>
          <a:sx n="119" d="100"/>
          <a:sy n="119" d="100"/>
        </p:scale>
        <p:origin x="-576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3AE4-DC46-EC80-677C-CAFE4FC98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EE8212-8DD7-2258-AA25-50D8D0014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7747E-939B-6A1A-7473-B412DFA0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9F3E8-7507-16A8-B2F4-BA793FA3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BA5DC-342D-79B2-4FD2-2A8DC579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30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7F960-6286-E4C3-83F8-0F3864115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5CB20-FFBA-AD24-F888-197F3A783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12B30-9966-D8C6-7AB1-357FD1AE5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ED099-0222-D65E-5B0A-6539CD87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020D3-B9B4-7C61-4EA2-559A4953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0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61B7C-475B-4709-B3C3-75C92EAF0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718FA-9337-7A50-FE6C-0ED52CDB6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5637D-3353-0BD5-45E4-A4C8094C5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A10B-0EC0-F8FF-7DB3-2B8C152DA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F333B-1869-1A2A-2571-AF52D003A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45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0733-F4FF-4284-2B09-87E734B3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23875-708D-C0FE-4D7F-A58056ACA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3BF73-EA3E-2AA8-EF12-F1C11CC36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6AE47-2AF5-142A-5730-E39E1B67D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707DF-98B9-553B-E9FB-2790C163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1F9EC-BACF-39D0-5855-E2D8B43F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80BD1-8EB2-2D27-C055-2A7B0BD0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F60FA-1C6F-6642-9537-DB60242BB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08BC0-54B3-3A35-D0F2-349ED8419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E6857-3A1F-45CD-128F-8023CCE08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7FAFA-6BF3-DB08-DEFA-4F7EB5146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28CF2D-A355-EB62-0CE9-F7E195D2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5E76C7-B7EB-9594-9805-4499A15E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4B1AAC-A871-D44B-69D5-BB94D0FF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5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8289-DCD7-4458-6F83-38C875448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45B84-3B82-77F9-F8E5-206591B6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C3827-50B9-B069-AA29-C396CF0A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F4CDD-68B6-34B7-279B-148E7C21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2CE5E-FE83-D0E4-E745-78268FC4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D9B99-4F8F-56EE-01CA-3D5FA4F7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1EF3D-6E64-CF83-5A04-C0D4E22F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411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87C0-53C9-1BD6-2F8F-1A1225F1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D4F38-FE64-EF07-C734-002E6FA8B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1D4CD-5AB8-A5F3-36EF-395A6DA2E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3F95-5003-3A60-B025-63D94FD73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52C9C-5788-476E-A821-640172BC2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694CE-B0E3-3ADD-3D80-B8746541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47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7D0E-6036-CED8-DA57-7EDCAC705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B2108-14C7-C477-BCCD-F075708A5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1E3AA-323D-BDAB-94F0-836A22BC3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8E52B-18D6-CDD9-B414-04514B6B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2FB7B-FEF4-B48A-037F-F13946D5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423FD-0DA9-E5F8-9E2E-95C45B57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88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917C-9B89-46F9-EF37-002384F6C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DF69C-0E9B-91C2-00AB-6343C2AD3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BD643-B96F-BF68-7B25-C17C5C6D4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6621E-D851-D9A2-0A72-C464C610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3B48-CC0D-C88C-A6CC-A0554107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4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6257F-297A-9742-107E-2224C79210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4184C-BA5F-4B3C-4C40-31303D19B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A113-4F6B-5B0D-1CE7-AFBC3E958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B91A-F900-CC92-274E-13E15285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60BD5-2385-F1F5-0167-4F1803CAE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1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9CA00-05C5-1482-F906-A78161D7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812C5-50F8-8044-92FB-BD869AA0C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F8112-0994-6465-EEFE-36005E7FB2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5050A-43F8-F447-9FED-F52C944A818E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58C0E-9A42-A613-3F92-6E982E103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E4869-5209-9C81-61A7-BA31DA25F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E66CF4-1764-D64E-B4DE-8662166BB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7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8A947-5702-3CF8-EDF8-35C4C0C690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6D1076-E75C-5D4C-9C9E-2C7CAAD6C3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1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F61E-5D24-B4D8-C485-002F4F0C7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24BEA-9E3A-2CD9-0556-E3832696E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Each context and question is paired with both versions of one question (per index)</a:t>
            </a:r>
          </a:p>
          <a:p>
            <a:r>
              <a:rPr lang="en-US" dirty="0"/>
              <a:t>Context (may vary slightly in wording within each </a:t>
            </a:r>
            <a:r>
              <a:rPr lang="en-US" dirty="0" err="1"/>
              <a:t>question_index</a:t>
            </a:r>
            <a:r>
              <a:rPr lang="en-US" dirty="0"/>
              <a:t>, </a:t>
            </a:r>
            <a:r>
              <a:rPr lang="en-US" dirty="0" err="1"/>
              <a:t>example_ID</a:t>
            </a:r>
            <a:r>
              <a:rPr lang="en-US" dirty="0"/>
              <a:t>(unique), category) + Question (both polarities have same </a:t>
            </a:r>
            <a:r>
              <a:rPr lang="en-US" dirty="0" err="1"/>
              <a:t>question_index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Three answer options: 1 stereotypical, 1 non-stereotypical, unknown</a:t>
            </a:r>
          </a:p>
          <a:p>
            <a:pPr lvl="1"/>
            <a:r>
              <a:rPr lang="en-US" dirty="0" err="1"/>
              <a:t>Target_loc</a:t>
            </a:r>
            <a:r>
              <a:rPr lang="en-US" dirty="0"/>
              <a:t> = one of the two answer options </a:t>
            </a:r>
          </a:p>
          <a:p>
            <a:pPr lvl="1"/>
            <a:r>
              <a:rPr lang="en-US" dirty="0"/>
              <a:t>label = the correct answer  </a:t>
            </a:r>
          </a:p>
          <a:p>
            <a:pPr lvl="2"/>
            <a:r>
              <a:rPr lang="en-US" dirty="0" err="1"/>
              <a:t>Ambig</a:t>
            </a:r>
            <a:r>
              <a:rPr lang="en-US" dirty="0"/>
              <a:t>: Gold label = unknown </a:t>
            </a:r>
          </a:p>
          <a:p>
            <a:pPr lvl="2"/>
            <a:r>
              <a:rPr lang="en-US" dirty="0" err="1"/>
              <a:t>Disambig</a:t>
            </a:r>
            <a:r>
              <a:rPr lang="en-US" dirty="0"/>
              <a:t>: Gold label = either stereotypical or non-stereotypical</a:t>
            </a:r>
          </a:p>
          <a:p>
            <a:r>
              <a:rPr lang="en-US" dirty="0"/>
              <a:t>Question polarity:</a:t>
            </a:r>
          </a:p>
          <a:p>
            <a:pPr lvl="1"/>
            <a:r>
              <a:rPr lang="en-US" dirty="0"/>
              <a:t>Negative</a:t>
            </a:r>
          </a:p>
          <a:p>
            <a:pPr lvl="2"/>
            <a:r>
              <a:rPr lang="en-US" dirty="0"/>
              <a:t>Looking for </a:t>
            </a:r>
            <a:r>
              <a:rPr lang="en-US" dirty="0" err="1"/>
              <a:t>Target_loc</a:t>
            </a:r>
            <a:r>
              <a:rPr lang="en-US" dirty="0"/>
              <a:t> answer option </a:t>
            </a:r>
          </a:p>
          <a:p>
            <a:pPr lvl="1"/>
            <a:r>
              <a:rPr lang="en-US" dirty="0"/>
              <a:t>Nonnegative </a:t>
            </a:r>
          </a:p>
          <a:p>
            <a:pPr lvl="2"/>
            <a:r>
              <a:rPr lang="en-US" dirty="0"/>
              <a:t>Looking for non- </a:t>
            </a:r>
            <a:r>
              <a:rPr lang="en-US" dirty="0" err="1"/>
              <a:t>Target_loc</a:t>
            </a:r>
            <a:r>
              <a:rPr lang="en-US" dirty="0"/>
              <a:t> answer option</a:t>
            </a:r>
          </a:p>
        </p:txBody>
      </p:sp>
    </p:spTree>
    <p:extLst>
      <p:ext uri="{BB962C8B-B14F-4D97-AF65-F5344CB8AC3E}">
        <p14:creationId xmlns:p14="http://schemas.microsoft.com/office/powerpoint/2010/main" val="2403088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F0761-CAE3-4F3F-79BA-B7BCA4E92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2DEC15-9FFA-44B2-D7E0-01A2884D5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747558"/>
              </p:ext>
            </p:extLst>
          </p:nvPr>
        </p:nvGraphicFramePr>
        <p:xfrm>
          <a:off x="3081519" y="2449567"/>
          <a:ext cx="6028962" cy="3499411"/>
        </p:xfrm>
        <a:graphic>
          <a:graphicData uri="http://schemas.openxmlformats.org/drawingml/2006/table">
            <a:tbl>
              <a:tblPr/>
              <a:tblGrid>
                <a:gridCol w="1004827">
                  <a:extLst>
                    <a:ext uri="{9D8B030D-6E8A-4147-A177-3AD203B41FA5}">
                      <a16:colId xmlns:a16="http://schemas.microsoft.com/office/drawing/2014/main" val="3660047632"/>
                    </a:ext>
                  </a:extLst>
                </a:gridCol>
                <a:gridCol w="1004827">
                  <a:extLst>
                    <a:ext uri="{9D8B030D-6E8A-4147-A177-3AD203B41FA5}">
                      <a16:colId xmlns:a16="http://schemas.microsoft.com/office/drawing/2014/main" val="2174420783"/>
                    </a:ext>
                  </a:extLst>
                </a:gridCol>
                <a:gridCol w="1004827">
                  <a:extLst>
                    <a:ext uri="{9D8B030D-6E8A-4147-A177-3AD203B41FA5}">
                      <a16:colId xmlns:a16="http://schemas.microsoft.com/office/drawing/2014/main" val="1347847531"/>
                    </a:ext>
                  </a:extLst>
                </a:gridCol>
                <a:gridCol w="1004827">
                  <a:extLst>
                    <a:ext uri="{9D8B030D-6E8A-4147-A177-3AD203B41FA5}">
                      <a16:colId xmlns:a16="http://schemas.microsoft.com/office/drawing/2014/main" val="3204385550"/>
                    </a:ext>
                  </a:extLst>
                </a:gridCol>
                <a:gridCol w="1004827">
                  <a:extLst>
                    <a:ext uri="{9D8B030D-6E8A-4147-A177-3AD203B41FA5}">
                      <a16:colId xmlns:a16="http://schemas.microsoft.com/office/drawing/2014/main" val="2594157287"/>
                    </a:ext>
                  </a:extLst>
                </a:gridCol>
                <a:gridCol w="1004827">
                  <a:extLst>
                    <a:ext uri="{9D8B030D-6E8A-4147-A177-3AD203B41FA5}">
                      <a16:colId xmlns:a16="http://schemas.microsoft.com/office/drawing/2014/main" val="2316390875"/>
                    </a:ext>
                  </a:extLst>
                </a:gridCol>
              </a:tblGrid>
              <a:tr h="457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Experiment Type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Input to Model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What the model returns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You compute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Decision logic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What it tests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219590"/>
                  </a:ext>
                </a:extLst>
              </a:tr>
              <a:tr h="1015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Generative (GPT, Granite)</a:t>
                      </a:r>
                      <a:endParaRPr lang="en-US" sz="100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1" dirty="0"/>
                        <a:t>(Context +) question</a:t>
                      </a:r>
                      <a:endParaRPr lang="en-US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Generated answer (text or probability over answers)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Compare generated answer vs gold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Correct if matches label, Bias if matches </a:t>
                      </a:r>
                      <a:r>
                        <a:rPr lang="en-US" sz="1000" dirty="0" err="1"/>
                        <a:t>target_loc</a:t>
                      </a:r>
                      <a:endParaRPr lang="en-US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Whether the model </a:t>
                      </a:r>
                      <a:r>
                        <a:rPr lang="en-US" sz="1000" b="1" dirty="0"/>
                        <a:t>chooses the correct or stereotypical  answer</a:t>
                      </a:r>
                      <a:endParaRPr lang="en-US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657321"/>
                  </a:ext>
                </a:extLst>
              </a:tr>
              <a:tr h="2026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Embedding Setup</a:t>
                      </a:r>
                      <a:endParaRPr lang="en-US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i="1" dirty="0"/>
                        <a:t>Question + each answer choice separately</a:t>
                      </a:r>
                      <a:endParaRPr lang="en-US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3 query vectors + 1 context vector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Pick highest similarity to context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Correct if highest </a:t>
                      </a:r>
                      <a:r>
                        <a:rPr lang="en-US" sz="1000" dirty="0" err="1"/>
                        <a:t>cosim</a:t>
                      </a:r>
                      <a:r>
                        <a:rPr lang="en-US" sz="1000" dirty="0"/>
                        <a:t> = label, Bias if highest </a:t>
                      </a:r>
                      <a:r>
                        <a:rPr lang="en-US" sz="1000" dirty="0" err="1"/>
                        <a:t>cosim</a:t>
                      </a:r>
                      <a:r>
                        <a:rPr lang="en-US" sz="1000" dirty="0"/>
                        <a:t>  = </a:t>
                      </a:r>
                      <a:r>
                        <a:rPr lang="en-US" sz="1000" dirty="0" err="1"/>
                        <a:t>target_loc</a:t>
                      </a:r>
                      <a:endParaRPr lang="en-US" sz="1000" dirty="0"/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Whether the model would </a:t>
                      </a:r>
                      <a:r>
                        <a:rPr lang="en-US" sz="1000" b="1" dirty="0"/>
                        <a:t>select the same answer</a:t>
                      </a:r>
                      <a:r>
                        <a:rPr lang="en-US" sz="1000" dirty="0"/>
                        <a:t> as in generative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932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418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C546C-1067-0D02-0DF3-24E4FE638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FC22AC-1D87-B0EC-17F5-943B5471E0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931274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699504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00525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Query (Q)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 (C)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Cosine sim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27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 + ans0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548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 + ans1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117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 + ans2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sim2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18500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F0F954-1DF8-74EA-7D10-887FDEC8244A}"/>
              </a:ext>
            </a:extLst>
          </p:cNvPr>
          <p:cNvSpPr txBox="1"/>
          <p:nvPr/>
        </p:nvSpPr>
        <p:spPr>
          <a:xfrm>
            <a:off x="6271591" y="617020"/>
            <a:ext cx="61026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each example:</a:t>
            </a:r>
          </a:p>
          <a:p>
            <a:r>
              <a:rPr lang="en-US" dirty="0"/>
              <a:t>  for each answer in ans0, ans1, ans2:</a:t>
            </a:r>
          </a:p>
          <a:p>
            <a:r>
              <a:rPr lang="en-US" dirty="0"/>
              <a:t>    embed Q+A</a:t>
            </a:r>
          </a:p>
          <a:p>
            <a:r>
              <a:rPr lang="en-US" dirty="0"/>
              <a:t>  embed context</a:t>
            </a:r>
          </a:p>
          <a:p>
            <a:r>
              <a:rPr lang="en-US" dirty="0"/>
              <a:t>  compare all sims</a:t>
            </a:r>
          </a:p>
          <a:p>
            <a:r>
              <a:rPr lang="en-US" dirty="0"/>
              <a:t>  track which answer is highest sim</a:t>
            </a:r>
          </a:p>
        </p:txBody>
      </p:sp>
    </p:spTree>
    <p:extLst>
      <p:ext uri="{BB962C8B-B14F-4D97-AF65-F5344CB8AC3E}">
        <p14:creationId xmlns:p14="http://schemas.microsoft.com/office/powerpoint/2010/main" val="70740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57DE-0A70-18B5-5C2C-921F633D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3CF22-BBAF-3213-129E-B291FF232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13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278</Words>
  <Application>Microsoft Macintosh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Answer Types</vt:lpstr>
      <vt:lpstr>PowerPoint Presentation</vt:lpstr>
      <vt:lpstr>Embedding</vt:lpstr>
      <vt:lpstr>Generative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Tano</dc:creator>
  <cp:lastModifiedBy>Marie Tano</cp:lastModifiedBy>
  <cp:revision>2</cp:revision>
  <dcterms:created xsi:type="dcterms:W3CDTF">2025-11-24T19:21:33Z</dcterms:created>
  <dcterms:modified xsi:type="dcterms:W3CDTF">2025-11-24T22:11:45Z</dcterms:modified>
</cp:coreProperties>
</file>